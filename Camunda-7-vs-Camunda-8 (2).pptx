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3.png"/><Relationship Id="rId6" Type="http://schemas.openxmlformats.org/officeDocument/2006/relationships/image" Target="../media/image-9-4.svg"/><Relationship Id="rId7" Type="http://schemas.openxmlformats.org/officeDocument/2006/relationships/image" Target="../media/image-9-3.png"/><Relationship Id="rId8" Type="http://schemas.openxmlformats.org/officeDocument/2006/relationships/image" Target="../media/image-9-4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amunda.com/platform-7/migrate/" TargetMode="External"/><Relationship Id="rId2" Type="http://schemas.openxmlformats.org/officeDocument/2006/relationships/hyperlink" Target="https://docs.camunda.io/docs/8.8/guides/migrating-from-camunda-7/conceptual-differences/" TargetMode="External"/><Relationship Id="rId3" Type="http://schemas.openxmlformats.org/officeDocument/2006/relationships/hyperlink" Target="https://docs.camunda.io/docs/next/guides/migrating-from-camunda-7/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68952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Camunda 7 vs Camunda 8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56364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Что выбрать при разных требованиях к архитектуре, эксплуатации и масштабированию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3313"/>
            <a:ext cx="10868745" cy="110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Короткий ответ: для нового проекта — Camunda 8, однако…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45730"/>
            <a:ext cx="3523070" cy="352315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3081" y="2176760"/>
            <a:ext cx="2193672" cy="38610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95529" y="2373015"/>
            <a:ext cx="1724974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Camunda 8 — базовый выбор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4895529" y="3092946"/>
            <a:ext cx="1724974" cy="2471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новых решений с cloud-native архитектурой, высокой доступностью, горизонтальным масштабированием и работой в SaaS или Self-Managed.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2841" y="2176760"/>
            <a:ext cx="2193771" cy="386109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255289" y="2373015"/>
            <a:ext cx="1725073" cy="83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Camunda 7 — проверенный старичок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7255289" y="3369866"/>
            <a:ext cx="1725073" cy="2471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Выбор оправдан прежде всего для уже работающих решений, где важны минимальные изменения и совместимость с текущим embedded-стеком. 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42700" y="2176760"/>
            <a:ext cx="2193672" cy="386109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15148" y="2373015"/>
            <a:ext cx="1724974" cy="83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Официальная позиция Camunda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9615148" y="3369866"/>
            <a:ext cx="1724974" cy="1647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Все новые проекты — на Camunda 8. Camunda 7 Enterprise Edition поддерживается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до апреля 2030 года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Главное различие — где живёт workflow engine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2995315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Camunda 7: Embedded Engine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3197820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Движок встраивается прямо в приложение — общий JVM, thread pools, datasource и transaction manager. Бизнес-код и workflow участвуют в одной ACID-транзакции.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61475" y="3484166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Camunda 8: Remote Engine (Zeebe)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1475" y="3686671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Zeebe всегда является </a:t>
            </a:r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удалённым ресурсом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Embedded engine не поддерживается. Нельзя разделить единую техническую транзакцию между бизнес-кодом и движком.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61475" y="3979267"/>
            <a:ext cx="5315512" cy="256977"/>
          </a:xfrm>
          <a:prstGeom prst="roundRect">
            <a:avLst>
              <a:gd name="adj" fmla="val 15929"/>
            </a:avLst>
          </a:prstGeom>
          <a:solidFill>
            <a:srgbClr val="FCF2B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05" y="4057352"/>
            <a:ext cx="121738" cy="9743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78074" y="4048720"/>
            <a:ext cx="551106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Требуются явные паттерны согласованности, идемпотентности и повторов.</a:t>
            </a:r>
            <a:endParaRPr lang="en-US" sz="7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058" y="961132"/>
            <a:ext cx="5315512" cy="53156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1179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Проблема Camunda 7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7492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Camunda 7: Реляционная СУБД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059212"/>
            <a:ext cx="520379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Традиционная архитектура Camunda 7 опирается на реляционные базы данных (PostgreSQL, Oracle, SQL Server). Это может стать узким местом под высокой нагрузкой, так как каждое изменение состояния workflow требует транзакционной записи в БД, что ограничивает общую пропускную способность.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257492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Camunda 8: Zeebe и Event Sourcing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32776" y="3059212"/>
            <a:ext cx="5203794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Zeebe (движок Camunda 8) использует архитектуру на основе Event Sourcing с лог-ориентированным хранилищем (RocksDB). Такой подход обеспечивает горизонтальное масштабирование, высокую доступность и значительно превосходит пропускную способность традиционных СУБД, снимая ограничения по производительности.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3151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Сравнение производительности</a:t>
            </a:r>
            <a:endParaRPr lang="en-US" sz="3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429048"/>
          <a:ext cx="9143771" cy="914400"/>
        </p:xfrm>
        <a:graphic>
          <a:graphicData uri="http://schemas.openxmlformats.org/drawingml/2006/table">
            <a:tbl>
              <a:tblPr/>
              <a:tblGrid>
                <a:gridCol w="3623640"/>
                <a:gridCol w="3622553"/>
                <a:gridCol w="3622553"/>
              </a:tblGrid>
              <a:tr h="45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Сценарий / Характеристика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Camunda 7.24.0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Camunda 8.8.0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4534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Простой процесс. Запуск на Amazon EKS.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~17 секунд (на 1000 инстансов)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~315 секунд (на 1000 инстансов)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7080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Параллельные задачи (300 подзадач). Запуск на локальном компьютере.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~51 секунда (среднее время выполнения)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~42 секунды (среднее время выполнения)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471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Производительность под нагрузкой (стресс-тест)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Мощный AWS кластер из 8 узлов(c5.2xlarge) и одной БД. Обработано 300 млн. экземпляров со средней длительностью 50 мс. PI/S ~ 250. Оценка пиковой мощности.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В k8s 3 ядра CPU показывает 220 PI/S. Но это базовая рекомендация настройки используемых ядер.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7295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Параллельные активности (Batch Processing)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Узкое место. При большом количестве параллельных задач (например, &gt;1000) создается огромное "дерево исполнения", что создает колоссальную нагрузку на БД и вызывает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OptimisticLockingException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.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Сильная сторона. Архитектура Zeebe изначально спроектирована для таких сценариев и эффективно обрабатывает большое число параллельных активностей.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71" y="487263"/>
            <a:ext cx="4412445" cy="5883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43421"/>
            <a:ext cx="6296860" cy="1495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Если приоритет — масштабирование и отказоустойчивость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5233360" y="2240359"/>
            <a:ext cx="3081161" cy="1851124"/>
          </a:xfrm>
          <a:prstGeom prst="roundRect">
            <a:avLst>
              <a:gd name="adj" fmla="val 361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99151" y="2406154"/>
            <a:ext cx="274958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Высокий throughput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399151" y="2735957"/>
            <a:ext cx="2749580" cy="940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Большое количество параллельных экземпляров процессов и длинные процессы без деградации производительности.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449059" y="2240359"/>
            <a:ext cx="3081161" cy="1851124"/>
          </a:xfrm>
          <a:prstGeom prst="roundRect">
            <a:avLst>
              <a:gd name="adj" fmla="val 361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14849" y="2406154"/>
            <a:ext cx="2749580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Горизонтальное масштабирование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614849" y="2985095"/>
            <a:ext cx="2749580" cy="940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Независимое масштабирование workers под нагрузку. Архитектура спроектирована для cloud-native среды.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233360" y="4226024"/>
            <a:ext cx="6296860" cy="1131689"/>
          </a:xfrm>
          <a:prstGeom prst="roundRect">
            <a:avLst>
              <a:gd name="adj" fmla="val 591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9151" y="4391819"/>
            <a:ext cx="59652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Гибкость поставки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399151" y="4721622"/>
            <a:ext cx="596527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SaaS или Self-Managed — выбор под ограничения организации. Централизованный operational monitoring.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233360" y="5509022"/>
            <a:ext cx="6296860" cy="805458"/>
          </a:xfrm>
          <a:prstGeom prst="roundRect">
            <a:avLst>
              <a:gd name="adj" fmla="val 8316"/>
            </a:avLst>
          </a:prstGeom>
          <a:solidFill>
            <a:srgbClr val="E1E1E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801" y="5702498"/>
            <a:ext cx="199325" cy="15944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51567" y="5683349"/>
            <a:ext cx="5619213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Вывод: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Если процессы должны выдерживать высокую нагрузку и работать в распределённой среде — выбирайте Camunda 8.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17" y="110728"/>
            <a:ext cx="4424252" cy="66365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71798"/>
            <a:ext cx="6296860" cy="1384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Если нет требований к высокой нагрузке — Camunda 7 остаётся хорошим выбором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233360" y="2129234"/>
            <a:ext cx="2022028" cy="1915616"/>
          </a:xfrm>
          <a:prstGeom prst="roundRect">
            <a:avLst>
              <a:gd name="adj" fmla="val 323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0044" y="2295922"/>
            <a:ext cx="1688661" cy="461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Предсказуемая нагрузка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00044" y="2826445"/>
            <a:ext cx="1688661" cy="84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Идеально для решений с умеренным throughput и предсказуемой нагрузкой.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370677" y="2129234"/>
            <a:ext cx="2022127" cy="1915616"/>
          </a:xfrm>
          <a:prstGeom prst="roundRect">
            <a:avLst>
              <a:gd name="adj" fmla="val 323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37361" y="2295922"/>
            <a:ext cx="1688760" cy="461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Упрощенная архитектура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537361" y="2826445"/>
            <a:ext cx="1688760" cy="1051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Embedded engine: одна JVM, общие транзакции, меньше операционной сложности.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508093" y="2129234"/>
            <a:ext cx="2022028" cy="1915616"/>
          </a:xfrm>
          <a:prstGeom prst="roundRect">
            <a:avLst>
              <a:gd name="adj" fmla="val 323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74777" y="2295922"/>
            <a:ext cx="168866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Низкая задержка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674777" y="2595761"/>
            <a:ext cx="1688661" cy="84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Меньше сетевых вызовов и latency благодаря встроенному движку.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233360" y="4160143"/>
            <a:ext cx="2022028" cy="2125960"/>
          </a:xfrm>
          <a:prstGeom prst="roundRect">
            <a:avLst>
              <a:gd name="adj" fmla="val 306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00044" y="4326830"/>
            <a:ext cx="168866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Простая отладка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400044" y="4626670"/>
            <a:ext cx="1688661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Легче отладка и мониторинг в едином runtime.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370677" y="4160143"/>
            <a:ext cx="2022127" cy="2125960"/>
          </a:xfrm>
          <a:prstGeom prst="roundRect">
            <a:avLst>
              <a:gd name="adj" fmla="val 306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37361" y="4326830"/>
            <a:ext cx="1688760" cy="461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Проверенное решение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7537361" y="4857353"/>
            <a:ext cx="1688760" cy="1262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Хорошо зарекомендовала себя в production для средних корпоративных приложений.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508093" y="4160143"/>
            <a:ext cx="2022028" cy="2125960"/>
          </a:xfrm>
          <a:prstGeom prst="roundRect">
            <a:avLst>
              <a:gd name="adj" fmla="val 306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74777" y="4326830"/>
            <a:ext cx="1688661" cy="461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Длительная поддержка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9674777" y="4857353"/>
            <a:ext cx="1688661" cy="84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Поддержка до апреля 2030 года для планомерной миграции.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68952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Camunda 7: Выбор для проектов с ЮЛ и ИП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56364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 основании всех архитектурных, эксплуатационных и масштабных требований наши проекты разрабатываются на Camunda 7. Переход на Camunda 8 не планируется.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4852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Рекомендация: выбирать профиль требований, а не версию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77802"/>
            <a:ext cx="6941071" cy="3412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57919" y="2087225"/>
            <a:ext cx="1717124" cy="19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Рекомендация выбора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057919" y="2342094"/>
            <a:ext cx="3210031" cy="140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Camunda 7 или Camunda 8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057919" y="2884461"/>
            <a:ext cx="1587378" cy="19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Зависимости от JVM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57919" y="3139330"/>
            <a:ext cx="3210031" cy="140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Java objects, Spin, JUEL?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057919" y="3681698"/>
            <a:ext cx="2665141" cy="19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Требования к производительности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057919" y="3936566"/>
            <a:ext cx="3210031" cy="140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Throughput, Hight Availability, масштабирование?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064974" y="4478934"/>
            <a:ext cx="1992049" cy="19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Нужен embedded engine?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064974" y="4733803"/>
            <a:ext cx="3210031" cy="140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ACID-транзакция?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61475" y="5314652"/>
            <a:ext cx="6941071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Последовательный анализ профиля требований позволяет принять обоснованное архитектурное решение, а не следовать инерции.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961907" y="1307902"/>
            <a:ext cx="3574564" cy="884833"/>
          </a:xfrm>
          <a:prstGeom prst="roundRect">
            <a:avLst>
              <a:gd name="adj" fmla="val 6869"/>
            </a:avLst>
          </a:prstGeom>
          <a:solidFill>
            <a:srgbClr val="E1E1E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564" y="1474192"/>
            <a:ext cx="180871" cy="14466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432093" y="1443732"/>
            <a:ext cx="2959720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Ключевой вопрос: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Какие ограничения Camunda 7 являются бизнес-критичными, а какие лишь привычны команде?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2858" y="2298303"/>
            <a:ext cx="3593613" cy="7836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44663" y="2317353"/>
            <a:ext cx="339180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Шаг 1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144663" y="2654102"/>
            <a:ext cx="3391807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Нужен ли embedded engine и общая ACID-транзакция с приложением?</a:t>
            </a:r>
            <a:endParaRPr lang="en-US" sz="11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42858" y="3265388"/>
            <a:ext cx="3593613" cy="78363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44663" y="3284438"/>
            <a:ext cx="339180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Шаг 2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144663" y="3621187"/>
            <a:ext cx="3391807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Каковы требования к throughput, Hight Availability, масштабированию и модели эксплуатации?</a:t>
            </a:r>
            <a:endParaRPr lang="en-US" sz="11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42858" y="4232473"/>
            <a:ext cx="3593613" cy="78363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144663" y="4251523"/>
            <a:ext cx="339180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Шаг 3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8144663" y="4588272"/>
            <a:ext cx="3391807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Есть ли зависимость от Java objects, Spin, JUEL, legacy connectors и multi-tenancy?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42858" y="5199559"/>
            <a:ext cx="3593613" cy="9880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144663" y="5218609"/>
            <a:ext cx="339180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Шаг 4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8144663" y="5555357"/>
            <a:ext cx="3391807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нового проекта без ограничений — Camunda 8. Для legacy с обоснованными ограничениями — Camunda 7 с планом миграции.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758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Источники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044527"/>
            <a:ext cx="3496877" cy="1737618"/>
          </a:xfrm>
          <a:prstGeom prst="roundRect">
            <a:avLst>
              <a:gd name="adj" fmla="val 4569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5881" y="3258939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Migrate from Camunda 7 to Camunda 8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75881" y="3962896"/>
            <a:ext cx="30680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camunda.com/platform-7/migrate/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3044527"/>
            <a:ext cx="3496877" cy="1737618"/>
          </a:xfrm>
          <a:prstGeom prst="roundRect">
            <a:avLst>
              <a:gd name="adj" fmla="val 4569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61766" y="3258939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Conceptual Differences | Camunda 8 Docs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61766" y="3962896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docs.camunda.io — conceptual-differences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3044527"/>
            <a:ext cx="3496877" cy="1737618"/>
          </a:xfrm>
          <a:prstGeom prst="roundRect">
            <a:avLst>
              <a:gd name="adj" fmla="val 4569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47650" y="3258939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Camunda 7 to Camunda 8 Migration Guide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47650" y="3962896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docs.camunda.io — migrating-from-camunda-7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B1B2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2026-08-27T05:55:15Z</dcterms:created>
  <dcterms:modified xsi:type="dcterms:W3CDTF">2026-08-27T05:55:15Z</dcterms:modified>
</cp:coreProperties>
</file>